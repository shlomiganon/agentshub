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7414BD-FD42-65CE-8566-849580158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B865C72-2BC3-B29C-501F-58E809D11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1CBE497-3DDB-8FEC-ECF4-953519358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5897DF-2ADF-35D0-F3F0-5F03CD1E1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7618FEC-F4B0-E5B8-818B-144BC229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12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FEBD4A-A06A-96DD-CED3-776C4082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547F36-07F5-6084-4783-1BB5919D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FDD0FC9-55C3-CCED-C95F-C7A4F73D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7ADFF41-B6CB-171F-D339-15B3515B9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8643AF3-6E2F-9CA6-7A0D-C166ABD9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336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4387BD-7A5D-5779-C244-09E3A938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8813DA8-D427-DAF6-FDF0-961E6946F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7E242B-C6A9-9A07-E080-D730C1DD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E78D8FF-7728-7A26-8E41-5138397E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8DA7EAB-C709-27DD-BA7F-C99DDAC6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217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18BE1A-E019-2E0E-7AAE-ED9A2565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61646BD-CE47-210F-FD60-9C463E1F9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E25EB5A-FB7A-AB74-6583-834200A77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9F2E589-DF7F-9EAE-9C6E-50589E8D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BB8CB2D-D086-7D9A-79D1-BDE76D51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331D276-B53B-FF56-3228-851FE92A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704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C37BA0-295D-D559-CE8F-90E5B9BD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4069E9D-D127-5737-B4A4-C18854828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95635D9-3E36-5C25-9E46-A90E99045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F811B9B-6D15-F8EE-1D03-0058F80E4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D7EBAC5-5EA1-671A-2716-547DD0F84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AE16201-AC59-D908-1D74-DA15A914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83E0A4C-2C46-4749-4FEB-75000D7A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E542B24-9B7C-D9DA-8023-96DAF1B2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324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D2A5BD-EEA7-2D2F-E9A8-049492CA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00700A6-3D9B-8280-801D-BB0BF78B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FD24083-40F5-5E3A-A496-4C9B571A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EA58D64-0869-01A6-CD86-E9FF897C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3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88FF717-DFAD-5679-F273-F1EDEDEB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14A9C13-DB2E-5031-DA04-D5ABAA4D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5ED1C89-771D-90F9-309E-11675D8B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870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4E08C0-5D9F-46FE-0C19-EF37D691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28A9E34-B8E2-C019-37C8-2E2C8D0F1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81ABFEC-EEB6-7E19-6EAF-A50BFBA5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D340178-E11A-36D0-AA08-5C66CD4B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A0EC3C3-9151-186C-58B1-997D059B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E0A4F56-9BD4-6268-A5FE-FF3A07036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279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DCF47D-133D-690A-6714-0B190C93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85FF1FC-50F4-3C46-127C-00E8A87C9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C22F5F2-5C44-C592-A642-68CAA3FC6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369BE20-A941-1852-FBB2-02598E86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EF4282F-689C-C23A-64A5-4200FEDB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6F98627-A796-FDE1-97DA-5B7FED87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201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38B521-0FB7-CC46-6AC2-A962F917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9B3B0A3-81F6-2AB8-E22B-D95DCFE9F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A248E24-6F3E-B3B7-45B1-4AD01788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3ECBB0-B82B-28FA-6411-D532695D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2B9C308-83B4-D55C-BF24-7CCF1FE5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828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D6B188B-BF99-E5C9-4DF9-55108E002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AE9C2D2-5DDA-E2BF-15C4-EF9FE8C0C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4AAF272-7D19-E4AD-55BB-45CCD741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7BEA5CB-25A9-4307-34F4-93474F29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DD7B94B-58AB-2BB9-B9EF-9010FC63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097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51BF1E0-24AB-F189-469E-0A7896F6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DC098E6-9C1F-8823-5EA4-76522B61A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3037E4E-A617-294A-8ACB-26076DE7E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4AB14-111D-4F39-82DE-A7D846276989}" type="datetimeFigureOut">
              <a:rPr lang="he-IL" smtClean="0"/>
              <a:t>ט'/אלול/תשפ"ו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FE1DC4A-703C-B307-9B32-C05AC4653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FFC5333-3EF0-C632-94A9-356D11E23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C3580-F408-41EC-A518-8A0D4DDBA7C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736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hlinkClick r:id="rId2" action="ppaction://hlinksldjump"/>
            <a:extLst>
              <a:ext uri="{FF2B5EF4-FFF2-40B4-BE49-F238E27FC236}">
                <a16:creationId xmlns:a16="http://schemas.microsoft.com/office/drawing/2014/main" id="{2F8AAE56-95A6-EF17-BF91-F1E97C37029E}"/>
              </a:ext>
            </a:extLst>
          </p:cNvPr>
          <p:cNvSpPr/>
          <p:nvPr/>
        </p:nvSpPr>
        <p:spPr>
          <a:xfrm>
            <a:off x="3342967" y="4129547"/>
            <a:ext cx="5506065" cy="2487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800" dirty="0"/>
              <a:t>BACKEND</a:t>
            </a:r>
            <a:endParaRPr lang="he-IL" sz="4800" dirty="0"/>
          </a:p>
        </p:txBody>
      </p:sp>
      <p:sp>
        <p:nvSpPr>
          <p:cNvPr id="5" name="מלבן 4">
            <a:hlinkClick r:id="rId3" action="ppaction://hlinksldjump"/>
            <a:extLst>
              <a:ext uri="{FF2B5EF4-FFF2-40B4-BE49-F238E27FC236}">
                <a16:creationId xmlns:a16="http://schemas.microsoft.com/office/drawing/2014/main" id="{AC432FEC-E313-AA5B-5FD4-C2A0712A5E05}"/>
              </a:ext>
            </a:extLst>
          </p:cNvPr>
          <p:cNvSpPr/>
          <p:nvPr/>
        </p:nvSpPr>
        <p:spPr>
          <a:xfrm>
            <a:off x="3342967" y="117987"/>
            <a:ext cx="5506065" cy="2487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800" dirty="0"/>
              <a:t>FRONTEND</a:t>
            </a:r>
            <a:endParaRPr lang="he-IL" sz="4800" dirty="0"/>
          </a:p>
        </p:txBody>
      </p:sp>
      <p:cxnSp>
        <p:nvCxnSpPr>
          <p:cNvPr id="7" name="מחבר: מעוקל 6">
            <a:extLst>
              <a:ext uri="{FF2B5EF4-FFF2-40B4-BE49-F238E27FC236}">
                <a16:creationId xmlns:a16="http://schemas.microsoft.com/office/drawing/2014/main" id="{3FFA78EB-ADFC-DF75-FE22-F1AAA1FB6799}"/>
              </a:ext>
            </a:extLst>
          </p:cNvPr>
          <p:cNvCxnSpPr>
            <a:cxnSpLocks/>
            <a:stCxn id="5" idx="1"/>
            <a:endCxn id="4" idx="1"/>
          </p:cNvCxnSpPr>
          <p:nvPr/>
        </p:nvCxnSpPr>
        <p:spPr>
          <a:xfrm rot="10800000" flipV="1">
            <a:off x="3342967" y="1361768"/>
            <a:ext cx="12700" cy="4011560"/>
          </a:xfrm>
          <a:prstGeom prst="curvedConnector3">
            <a:avLst>
              <a:gd name="adj1" fmla="val 636774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מחבר: מעוקל 16">
            <a:extLst>
              <a:ext uri="{FF2B5EF4-FFF2-40B4-BE49-F238E27FC236}">
                <a16:creationId xmlns:a16="http://schemas.microsoft.com/office/drawing/2014/main" id="{273CB964-3E47-CA4D-3057-9327F6D70500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 flipV="1">
            <a:off x="8849032" y="1361768"/>
            <a:ext cx="12700" cy="4011560"/>
          </a:xfrm>
          <a:prstGeom prst="curvedConnector3">
            <a:avLst>
              <a:gd name="adj1" fmla="val 636774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29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7A9E-FB9A-C9BC-18BC-4D18E48C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0DC1C65A-843D-EEDC-5956-9C5D4EC460EC}"/>
              </a:ext>
            </a:extLst>
          </p:cNvPr>
          <p:cNvSpPr/>
          <p:nvPr/>
        </p:nvSpPr>
        <p:spPr>
          <a:xfrm>
            <a:off x="0" y="0"/>
            <a:ext cx="12191999" cy="6858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200" dirty="0"/>
              <a:t>BACKEND</a:t>
            </a:r>
            <a:endParaRPr lang="he-IL" sz="3200" dirty="0"/>
          </a:p>
        </p:txBody>
      </p:sp>
      <p:sp>
        <p:nvSpPr>
          <p:cNvPr id="2" name="מלבן 1">
            <a:hlinkClick r:id="rId2" action="ppaction://hlinksldjump"/>
            <a:extLst>
              <a:ext uri="{FF2B5EF4-FFF2-40B4-BE49-F238E27FC236}">
                <a16:creationId xmlns:a16="http://schemas.microsoft.com/office/drawing/2014/main" id="{2C16F5CB-7C45-592E-C732-82DE3E14335D}"/>
              </a:ext>
            </a:extLst>
          </p:cNvPr>
          <p:cNvSpPr/>
          <p:nvPr/>
        </p:nvSpPr>
        <p:spPr>
          <a:xfrm>
            <a:off x="4591665" y="1467464"/>
            <a:ext cx="3008670" cy="9733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sz="4000" dirty="0"/>
              <a:t>סוכן ראשי</a:t>
            </a:r>
          </a:p>
        </p:txBody>
      </p:sp>
      <p:sp>
        <p:nvSpPr>
          <p:cNvPr id="3" name="מלבן 2">
            <a:hlinkClick r:id="rId3" action="ppaction://hlinksldjump"/>
            <a:extLst>
              <a:ext uri="{FF2B5EF4-FFF2-40B4-BE49-F238E27FC236}">
                <a16:creationId xmlns:a16="http://schemas.microsoft.com/office/drawing/2014/main" id="{2E499C6E-7259-C275-DC05-9AEAAB44251C}"/>
              </a:ext>
            </a:extLst>
          </p:cNvPr>
          <p:cNvSpPr/>
          <p:nvPr/>
        </p:nvSpPr>
        <p:spPr>
          <a:xfrm>
            <a:off x="4591665" y="2804651"/>
            <a:ext cx="3008670" cy="9733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sz="4000" dirty="0"/>
              <a:t>פרוטוקולים</a:t>
            </a:r>
          </a:p>
        </p:txBody>
      </p:sp>
      <p:sp>
        <p:nvSpPr>
          <p:cNvPr id="6" name="מלבן 5">
            <a:hlinkClick r:id="rId4" action="ppaction://hlinksldjump"/>
            <a:extLst>
              <a:ext uri="{FF2B5EF4-FFF2-40B4-BE49-F238E27FC236}">
                <a16:creationId xmlns:a16="http://schemas.microsoft.com/office/drawing/2014/main" id="{B02F4FB2-B487-9BEF-3CCD-D8706925F13E}"/>
              </a:ext>
            </a:extLst>
          </p:cNvPr>
          <p:cNvSpPr/>
          <p:nvPr/>
        </p:nvSpPr>
        <p:spPr>
          <a:xfrm>
            <a:off x="4591665" y="4141838"/>
            <a:ext cx="3008670" cy="9733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sz="4000" dirty="0"/>
              <a:t>היסטוריה</a:t>
            </a:r>
          </a:p>
        </p:txBody>
      </p:sp>
      <p:sp>
        <p:nvSpPr>
          <p:cNvPr id="8" name="מלבן 7">
            <a:hlinkClick r:id="rId5" action="ppaction://hlinksldjump"/>
            <a:extLst>
              <a:ext uri="{FF2B5EF4-FFF2-40B4-BE49-F238E27FC236}">
                <a16:creationId xmlns:a16="http://schemas.microsoft.com/office/drawing/2014/main" id="{2B5BE9DD-342F-DF90-CBD6-CF9766789088}"/>
              </a:ext>
            </a:extLst>
          </p:cNvPr>
          <p:cNvSpPr/>
          <p:nvPr/>
        </p:nvSpPr>
        <p:spPr>
          <a:xfrm>
            <a:off x="11602065" y="88490"/>
            <a:ext cx="501446" cy="4326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X</a:t>
            </a:r>
            <a:endParaRPr lang="he-IL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319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49CF-55B0-C7E5-2629-C17BB00C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0B07C391-34CF-A6FB-B355-24270AF09684}"/>
              </a:ext>
            </a:extLst>
          </p:cNvPr>
          <p:cNvSpPr/>
          <p:nvPr/>
        </p:nvSpPr>
        <p:spPr>
          <a:xfrm>
            <a:off x="0" y="0"/>
            <a:ext cx="12191999" cy="6858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200" dirty="0"/>
              <a:t>BACKEND</a:t>
            </a:r>
            <a:endParaRPr lang="he-IL" sz="3200" dirty="0"/>
          </a:p>
        </p:txBody>
      </p:sp>
      <p:sp>
        <p:nvSpPr>
          <p:cNvPr id="2" name="מלבן 1">
            <a:hlinkClick r:id="rId2" action="ppaction://hlinksldjump"/>
            <a:extLst>
              <a:ext uri="{FF2B5EF4-FFF2-40B4-BE49-F238E27FC236}">
                <a16:creationId xmlns:a16="http://schemas.microsoft.com/office/drawing/2014/main" id="{B5F13ABF-31C3-8335-95EC-9D4ADCE35E8D}"/>
              </a:ext>
            </a:extLst>
          </p:cNvPr>
          <p:cNvSpPr/>
          <p:nvPr/>
        </p:nvSpPr>
        <p:spPr>
          <a:xfrm>
            <a:off x="108155" y="570271"/>
            <a:ext cx="11975690" cy="62139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0"/>
            <a:r>
              <a:rPr lang="he-IL" sz="4000" dirty="0"/>
              <a:t>סוכן ראשי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F2CDEDB-F044-56EC-68F9-99E3D038542A}"/>
              </a:ext>
            </a:extLst>
          </p:cNvPr>
          <p:cNvSpPr/>
          <p:nvPr/>
        </p:nvSpPr>
        <p:spPr>
          <a:xfrm>
            <a:off x="9271819" y="1651819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סוכן (</a:t>
            </a:r>
            <a:r>
              <a:rPr lang="en-US" sz="2400" dirty="0">
                <a:solidFill>
                  <a:schemeClr val="tx1"/>
                </a:solidFill>
              </a:rPr>
              <a:t>AI</a:t>
            </a:r>
            <a:r>
              <a:rPr lang="he-IL" sz="2400" dirty="0">
                <a:solidFill>
                  <a:schemeClr val="tx1"/>
                </a:solidFill>
              </a:rPr>
              <a:t>) של הסוכן הראשי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59AC369-EF69-2803-1BAB-6A2DCE12BE9F}"/>
              </a:ext>
            </a:extLst>
          </p:cNvPr>
          <p:cNvSpPr/>
          <p:nvPr/>
        </p:nvSpPr>
        <p:spPr>
          <a:xfrm>
            <a:off x="9271819" y="3087329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רשימת סוכנים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B3597C2B-FBCC-6906-5FAA-2731AA73CE86}"/>
              </a:ext>
            </a:extLst>
          </p:cNvPr>
          <p:cNvSpPr/>
          <p:nvPr/>
        </p:nvSpPr>
        <p:spPr>
          <a:xfrm>
            <a:off x="9271819" y="4704735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 err="1">
                <a:solidFill>
                  <a:schemeClr val="tx1"/>
                </a:solidFill>
              </a:rPr>
              <a:t>רפרנס</a:t>
            </a:r>
            <a:r>
              <a:rPr lang="he-IL" sz="2400" dirty="0">
                <a:solidFill>
                  <a:schemeClr val="tx1"/>
                </a:solidFill>
              </a:rPr>
              <a:t> למערכת ההיסטוריה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2E072380-A6D6-6314-DA55-AED686BD7562}"/>
              </a:ext>
            </a:extLst>
          </p:cNvPr>
          <p:cNvSpPr/>
          <p:nvPr/>
        </p:nvSpPr>
        <p:spPr>
          <a:xfrm>
            <a:off x="3224981" y="1651818"/>
            <a:ext cx="2084439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עדכון באירוע חדש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732BC031-2601-EB12-8F15-83D3D0DCDD6E}"/>
              </a:ext>
            </a:extLst>
          </p:cNvPr>
          <p:cNvSpPr/>
          <p:nvPr/>
        </p:nvSpPr>
        <p:spPr>
          <a:xfrm>
            <a:off x="3224980" y="2927554"/>
            <a:ext cx="2084439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שאלת שאלה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65151610-9548-F32D-A185-15CD06200B29}"/>
              </a:ext>
            </a:extLst>
          </p:cNvPr>
          <p:cNvSpPr/>
          <p:nvPr/>
        </p:nvSpPr>
        <p:spPr>
          <a:xfrm>
            <a:off x="7034980" y="1651817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סוכן תובנות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0444FFB2-0213-A3CE-40EC-556C5A686F53}"/>
              </a:ext>
            </a:extLst>
          </p:cNvPr>
          <p:cNvSpPr/>
          <p:nvPr/>
        </p:nvSpPr>
        <p:spPr>
          <a:xfrm>
            <a:off x="11602065" y="88490"/>
            <a:ext cx="501446" cy="432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he-IL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מלבן 24">
            <a:hlinkClick r:id="rId3" action="ppaction://hlinksldjump"/>
            <a:extLst>
              <a:ext uri="{FF2B5EF4-FFF2-40B4-BE49-F238E27FC236}">
                <a16:creationId xmlns:a16="http://schemas.microsoft.com/office/drawing/2014/main" id="{30C171FA-2C22-8EC9-7156-FB1F1C21637A}"/>
              </a:ext>
            </a:extLst>
          </p:cNvPr>
          <p:cNvSpPr/>
          <p:nvPr/>
        </p:nvSpPr>
        <p:spPr>
          <a:xfrm>
            <a:off x="11552904" y="609599"/>
            <a:ext cx="462116" cy="4621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b="1" dirty="0"/>
              <a:t>X</a:t>
            </a:r>
            <a:endParaRPr lang="he-IL" sz="3600" b="1" dirty="0"/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B0F84E8D-BD93-1386-C6FA-1B340EA65CE6}"/>
              </a:ext>
            </a:extLst>
          </p:cNvPr>
          <p:cNvSpPr/>
          <p:nvPr/>
        </p:nvSpPr>
        <p:spPr>
          <a:xfrm>
            <a:off x="9227574" y="1573161"/>
            <a:ext cx="2172930" cy="263504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3028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B4AF-0D7A-A682-A0AA-1B504086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F148117B-BBD9-B1FB-CDC7-EFB914351A0D}"/>
              </a:ext>
            </a:extLst>
          </p:cNvPr>
          <p:cNvSpPr/>
          <p:nvPr/>
        </p:nvSpPr>
        <p:spPr>
          <a:xfrm>
            <a:off x="0" y="0"/>
            <a:ext cx="12191999" cy="6858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200" dirty="0"/>
              <a:t>BACKEND</a:t>
            </a:r>
            <a:endParaRPr lang="he-IL" sz="3200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1A893E2-4A0F-25F3-6B12-C588CD95A18B}"/>
              </a:ext>
            </a:extLst>
          </p:cNvPr>
          <p:cNvSpPr/>
          <p:nvPr/>
        </p:nvSpPr>
        <p:spPr>
          <a:xfrm>
            <a:off x="108155" y="570271"/>
            <a:ext cx="11975690" cy="62139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0"/>
            <a:r>
              <a:rPr lang="he-IL" sz="4000" dirty="0"/>
              <a:t>סוכן ראשי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21AA125-C7D0-A3ED-7071-3B3769E3CAF6}"/>
              </a:ext>
            </a:extLst>
          </p:cNvPr>
          <p:cNvSpPr/>
          <p:nvPr/>
        </p:nvSpPr>
        <p:spPr>
          <a:xfrm>
            <a:off x="9271819" y="1651819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סוכן (</a:t>
            </a:r>
            <a:r>
              <a:rPr lang="en-US" sz="2400" dirty="0">
                <a:solidFill>
                  <a:schemeClr val="tx1"/>
                </a:solidFill>
              </a:rPr>
              <a:t>AI</a:t>
            </a:r>
            <a:r>
              <a:rPr lang="he-IL" sz="2400" dirty="0">
                <a:solidFill>
                  <a:schemeClr val="tx1"/>
                </a:solidFill>
              </a:rPr>
              <a:t>) של הסוכן הראשי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6A5C0F6-AB09-E882-3DE0-338CFF5EA281}"/>
              </a:ext>
            </a:extLst>
          </p:cNvPr>
          <p:cNvSpPr/>
          <p:nvPr/>
        </p:nvSpPr>
        <p:spPr>
          <a:xfrm>
            <a:off x="9271819" y="3087329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רשימת סוכנים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961EB80E-789B-9CE5-B7A9-687E7FDC3363}"/>
              </a:ext>
            </a:extLst>
          </p:cNvPr>
          <p:cNvSpPr/>
          <p:nvPr/>
        </p:nvSpPr>
        <p:spPr>
          <a:xfrm>
            <a:off x="9271819" y="4704735"/>
            <a:ext cx="2084439" cy="10028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רפרנס</a:t>
            </a:r>
            <a:r>
              <a:rPr lang="he-IL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למערכת ההיסטוריה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44BFCEEE-F7C6-76F2-3095-0F04AB9EA7AB}"/>
              </a:ext>
            </a:extLst>
          </p:cNvPr>
          <p:cNvSpPr/>
          <p:nvPr/>
        </p:nvSpPr>
        <p:spPr>
          <a:xfrm>
            <a:off x="1101214" y="1651819"/>
            <a:ext cx="7639664" cy="1002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סוכן </a:t>
            </a:r>
            <a:r>
              <a:rPr lang="en-US" sz="2400" dirty="0" err="1">
                <a:solidFill>
                  <a:schemeClr val="tx1"/>
                </a:solidFill>
              </a:rPr>
              <a:t>CrewAI</a:t>
            </a:r>
            <a:r>
              <a:rPr lang="he-IL" sz="2400" dirty="0">
                <a:solidFill>
                  <a:schemeClr val="tx1"/>
                </a:solidFill>
              </a:rPr>
              <a:t> לצורך עבודה עם המודל של הסוכן הראשי.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FE563BE-3A53-F1A5-A216-83563BAEE83A}"/>
              </a:ext>
            </a:extLst>
          </p:cNvPr>
          <p:cNvSpPr/>
          <p:nvPr/>
        </p:nvSpPr>
        <p:spPr>
          <a:xfrm>
            <a:off x="412955" y="3087328"/>
            <a:ext cx="8327923" cy="3588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r>
              <a:rPr lang="he-IL" b="1" u="sng" dirty="0">
                <a:solidFill>
                  <a:schemeClr val="tx1"/>
                </a:solidFill>
              </a:rPr>
              <a:t>כל סוכן יכיל: </a:t>
            </a:r>
          </a:p>
          <a:p>
            <a:pPr algn="ctr"/>
            <a:endParaRPr lang="he-I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b="1" dirty="0">
                <a:solidFill>
                  <a:schemeClr val="tx1"/>
                </a:solidFill>
              </a:rPr>
              <a:t>כלים</a:t>
            </a:r>
            <a:r>
              <a:rPr lang="he-IL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</a:rPr>
              <a:t>tools</a:t>
            </a:r>
            <a:r>
              <a:rPr lang="he-IL" dirty="0">
                <a:solidFill>
                  <a:schemeClr val="tx1"/>
                </a:solidFill>
              </a:rPr>
              <a:t>) - רשימה של פונקציות של פעולות שהסוכן יודע לבצע.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b="1" dirty="0">
                <a:solidFill>
                  <a:schemeClr val="tx1"/>
                </a:solidFill>
              </a:rPr>
              <a:t>תפקיד</a:t>
            </a:r>
            <a:r>
              <a:rPr lang="he-IL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</a:rPr>
              <a:t>role</a:t>
            </a:r>
            <a:r>
              <a:rPr lang="he-IL" dirty="0">
                <a:solidFill>
                  <a:schemeClr val="tx1"/>
                </a:solidFill>
              </a:rPr>
              <a:t>) - הגדרה של תפקיד לסוכן כדי למקד.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b="1" dirty="0" err="1">
                <a:solidFill>
                  <a:schemeClr val="tx1"/>
                </a:solidFill>
              </a:rPr>
              <a:t>פרומפט</a:t>
            </a:r>
            <a:r>
              <a:rPr lang="he-IL" b="1" dirty="0">
                <a:solidFill>
                  <a:schemeClr val="tx1"/>
                </a:solidFill>
              </a:rPr>
              <a:t> מערכת </a:t>
            </a:r>
            <a:r>
              <a:rPr lang="he-IL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system prompt</a:t>
            </a:r>
            <a:r>
              <a:rPr lang="he-IL" dirty="0">
                <a:solidFill>
                  <a:schemeClr val="tx1"/>
                </a:solidFill>
              </a:rPr>
              <a:t>) - שיגדיר למודל מה לעשות \ צורת הסתכלות.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b="1" dirty="0">
                <a:solidFill>
                  <a:schemeClr val="tx1"/>
                </a:solidFill>
              </a:rPr>
              <a:t>מופע של הסוכן ב </a:t>
            </a:r>
            <a:r>
              <a:rPr lang="en-US" b="1" dirty="0" err="1">
                <a:solidFill>
                  <a:schemeClr val="tx1"/>
                </a:solidFill>
              </a:rPr>
              <a:t>CrewAI</a:t>
            </a:r>
            <a:r>
              <a:rPr lang="he-IL" dirty="0">
                <a:solidFill>
                  <a:schemeClr val="tx1"/>
                </a:solidFill>
              </a:rPr>
              <a:t> - כדי להשתמש באותו סוכן בהרצות חוזרות.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tx1"/>
                </a:solidFill>
              </a:rPr>
              <a:t>פונקציה אבסטרקטית: </a:t>
            </a:r>
            <a:r>
              <a:rPr lang="he-IL" sz="2400" b="1" dirty="0" err="1">
                <a:solidFill>
                  <a:schemeClr val="accent2">
                    <a:lumMod val="75000"/>
                  </a:schemeClr>
                </a:solidFill>
              </a:rPr>
              <a:t>process</a:t>
            </a:r>
            <a:r>
              <a:rPr lang="en-US" sz="2400" dirty="0">
                <a:solidFill>
                  <a:schemeClr val="tx1"/>
                </a:solidFill>
              </a:rPr>
              <a:t>(text , </a:t>
            </a:r>
            <a:r>
              <a:rPr lang="en-US" sz="2400" dirty="0" err="1">
                <a:solidFill>
                  <a:schemeClr val="tx1"/>
                </a:solidFill>
              </a:rPr>
              <a:t>allowed_tools</a:t>
            </a:r>
            <a:r>
              <a:rPr lang="en-US" sz="2400" dirty="0">
                <a:solidFill>
                  <a:schemeClr val="tx1"/>
                </a:solidFill>
              </a:rPr>
              <a:t>) -&gt; </a:t>
            </a:r>
            <a:r>
              <a:rPr lang="en-US" sz="2400" dirty="0" err="1">
                <a:solidFill>
                  <a:schemeClr val="tx1"/>
                </a:solidFill>
              </a:rPr>
              <a:t>result_text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F4002AAD-89B3-0EA8-63B4-68FD38441B48}"/>
              </a:ext>
            </a:extLst>
          </p:cNvPr>
          <p:cNvCxnSpPr>
            <a:stCxn id="7" idx="1"/>
          </p:cNvCxnSpPr>
          <p:nvPr/>
        </p:nvCxnSpPr>
        <p:spPr>
          <a:xfrm flipH="1">
            <a:off x="8740878" y="3588775"/>
            <a:ext cx="530941" cy="98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9B7A66D9-A926-EA94-E122-0E22C8A1159D}"/>
              </a:ext>
            </a:extLst>
          </p:cNvPr>
          <p:cNvCxnSpPr/>
          <p:nvPr/>
        </p:nvCxnSpPr>
        <p:spPr>
          <a:xfrm flipH="1">
            <a:off x="8740877" y="2143433"/>
            <a:ext cx="530941" cy="98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מלבן 12">
            <a:extLst>
              <a:ext uri="{FF2B5EF4-FFF2-40B4-BE49-F238E27FC236}">
                <a16:creationId xmlns:a16="http://schemas.microsoft.com/office/drawing/2014/main" id="{3D7AAAF1-7E7A-C401-1565-99AC848EF766}"/>
              </a:ext>
            </a:extLst>
          </p:cNvPr>
          <p:cNvSpPr/>
          <p:nvPr/>
        </p:nvSpPr>
        <p:spPr>
          <a:xfrm>
            <a:off x="11602065" y="88490"/>
            <a:ext cx="501446" cy="432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he-IL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D3C1272A-0E32-7BFF-4E70-6DBC4343BDE9}"/>
              </a:ext>
            </a:extLst>
          </p:cNvPr>
          <p:cNvSpPr/>
          <p:nvPr/>
        </p:nvSpPr>
        <p:spPr>
          <a:xfrm>
            <a:off x="11552904" y="609599"/>
            <a:ext cx="462116" cy="4621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he-IL" sz="3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מלבן 15">
            <a:hlinkClick r:id="rId2" action="ppaction://hlinksldjump"/>
            <a:extLst>
              <a:ext uri="{FF2B5EF4-FFF2-40B4-BE49-F238E27FC236}">
                <a16:creationId xmlns:a16="http://schemas.microsoft.com/office/drawing/2014/main" id="{5C1A95AE-C475-12B1-B069-E71A7DE7C40E}"/>
              </a:ext>
            </a:extLst>
          </p:cNvPr>
          <p:cNvSpPr/>
          <p:nvPr/>
        </p:nvSpPr>
        <p:spPr>
          <a:xfrm>
            <a:off x="9271818" y="865239"/>
            <a:ext cx="2084439" cy="462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לחזור אחורה</a:t>
            </a:r>
          </a:p>
        </p:txBody>
      </p:sp>
    </p:spTree>
    <p:extLst>
      <p:ext uri="{BB962C8B-B14F-4D97-AF65-F5344CB8AC3E}">
        <p14:creationId xmlns:p14="http://schemas.microsoft.com/office/powerpoint/2010/main" val="1563705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6DAF-05F2-5051-D467-C8E6C041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637E8EAA-FB53-4F8A-9640-65FA2BF8F4B7}"/>
              </a:ext>
            </a:extLst>
          </p:cNvPr>
          <p:cNvSpPr/>
          <p:nvPr/>
        </p:nvSpPr>
        <p:spPr>
          <a:xfrm>
            <a:off x="0" y="0"/>
            <a:ext cx="12191999" cy="6858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200" dirty="0"/>
              <a:t>BACKEND</a:t>
            </a:r>
            <a:endParaRPr lang="he-IL" sz="3200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431D35C7-0722-2B06-5831-28DA0963E4C9}"/>
              </a:ext>
            </a:extLst>
          </p:cNvPr>
          <p:cNvSpPr/>
          <p:nvPr/>
        </p:nvSpPr>
        <p:spPr>
          <a:xfrm>
            <a:off x="127819" y="589935"/>
            <a:ext cx="11936362" cy="61549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0"/>
            <a:r>
              <a:rPr lang="he-IL" sz="4000" dirty="0"/>
              <a:t>פרוטוקולים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0C2C81E-FFF0-E569-24CC-67230A89CCD9}"/>
              </a:ext>
            </a:extLst>
          </p:cNvPr>
          <p:cNvSpPr/>
          <p:nvPr/>
        </p:nvSpPr>
        <p:spPr>
          <a:xfrm>
            <a:off x="9271819" y="1651819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רשימת הפרוטוקולים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4DA765C-39B7-C4C3-9EC3-ED841C996CA9}"/>
              </a:ext>
            </a:extLst>
          </p:cNvPr>
          <p:cNvSpPr/>
          <p:nvPr/>
        </p:nvSpPr>
        <p:spPr>
          <a:xfrm>
            <a:off x="3224981" y="1651818"/>
            <a:ext cx="2084439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הוספת פרוטוקול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0F2A4A76-27A8-D4F1-4C2F-DCABB9BBBFC5}"/>
              </a:ext>
            </a:extLst>
          </p:cNvPr>
          <p:cNvSpPr/>
          <p:nvPr/>
        </p:nvSpPr>
        <p:spPr>
          <a:xfrm>
            <a:off x="3224981" y="2927554"/>
            <a:ext cx="2084439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מחיקת פרוטוקול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1CB516C7-913D-A0A6-A4EA-93EC38621B9D}"/>
              </a:ext>
            </a:extLst>
          </p:cNvPr>
          <p:cNvSpPr/>
          <p:nvPr/>
        </p:nvSpPr>
        <p:spPr>
          <a:xfrm>
            <a:off x="3224981" y="4127089"/>
            <a:ext cx="2084439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שינוי פרוטוקול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93AEB85F-0DC1-5AAB-4985-4EC1EBD46687}"/>
              </a:ext>
            </a:extLst>
          </p:cNvPr>
          <p:cNvSpPr/>
          <p:nvPr/>
        </p:nvSpPr>
        <p:spPr>
          <a:xfrm>
            <a:off x="3224980" y="5377015"/>
            <a:ext cx="2084439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קבלת פרוטוקול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D739BFFC-3C12-766D-BDC9-46F36449AD2E}"/>
              </a:ext>
            </a:extLst>
          </p:cNvPr>
          <p:cNvSpPr/>
          <p:nvPr/>
        </p:nvSpPr>
        <p:spPr>
          <a:xfrm>
            <a:off x="5624052" y="3428999"/>
            <a:ext cx="5732206" cy="2765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r>
              <a:rPr lang="he-IL" sz="2400" b="1" u="sng" dirty="0">
                <a:solidFill>
                  <a:schemeClr val="tx1"/>
                </a:solidFill>
              </a:rPr>
              <a:t>כל פרוטוקול מכיל:</a:t>
            </a:r>
          </a:p>
          <a:p>
            <a:endParaRPr lang="he-IL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</a:rPr>
              <a:t>שם פרוטוקול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</a:rPr>
              <a:t>רשימת כלים מאושרים עבור אותו פרוטוקול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</a:rPr>
              <a:t>הסוכנים שיופעלו באותו פרוטוקול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</a:rPr>
              <a:t>פלט מצופה בסיום מוצלח</a:t>
            </a:r>
          </a:p>
        </p:txBody>
      </p: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5F63C880-4698-D88C-3548-96EFE381ABB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314039" y="2654710"/>
            <a:ext cx="0" cy="7742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מלבן 16">
            <a:extLst>
              <a:ext uri="{FF2B5EF4-FFF2-40B4-BE49-F238E27FC236}">
                <a16:creationId xmlns:a16="http://schemas.microsoft.com/office/drawing/2014/main" id="{8A243B78-C893-619E-F09B-C42DEDB97141}"/>
              </a:ext>
            </a:extLst>
          </p:cNvPr>
          <p:cNvSpPr/>
          <p:nvPr/>
        </p:nvSpPr>
        <p:spPr>
          <a:xfrm>
            <a:off x="11602065" y="88490"/>
            <a:ext cx="501446" cy="432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he-IL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מלבן 18">
            <a:hlinkClick r:id="rId2" action="ppaction://hlinksldjump"/>
            <a:extLst>
              <a:ext uri="{FF2B5EF4-FFF2-40B4-BE49-F238E27FC236}">
                <a16:creationId xmlns:a16="http://schemas.microsoft.com/office/drawing/2014/main" id="{307804AB-CDCE-E6BE-FC08-D764F81E4AE3}"/>
              </a:ext>
            </a:extLst>
          </p:cNvPr>
          <p:cNvSpPr/>
          <p:nvPr/>
        </p:nvSpPr>
        <p:spPr>
          <a:xfrm>
            <a:off x="11552904" y="609599"/>
            <a:ext cx="462116" cy="4621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b="1" dirty="0"/>
              <a:t>X</a:t>
            </a:r>
            <a:endParaRPr lang="he-IL" sz="3600" b="1" dirty="0"/>
          </a:p>
        </p:txBody>
      </p:sp>
    </p:spTree>
    <p:extLst>
      <p:ext uri="{BB962C8B-B14F-4D97-AF65-F5344CB8AC3E}">
        <p14:creationId xmlns:p14="http://schemas.microsoft.com/office/powerpoint/2010/main" val="1010370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53732-AE32-2BB8-8D8E-D7D0F16F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D091EA51-7C69-C45E-9682-D98E51D02168}"/>
              </a:ext>
            </a:extLst>
          </p:cNvPr>
          <p:cNvSpPr/>
          <p:nvPr/>
        </p:nvSpPr>
        <p:spPr>
          <a:xfrm>
            <a:off x="0" y="0"/>
            <a:ext cx="12191999" cy="6858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200" dirty="0"/>
              <a:t>BACKEND</a:t>
            </a:r>
            <a:endParaRPr lang="he-IL" sz="3200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1261E1B-4B11-6565-6F19-B6500FA8A9D8}"/>
              </a:ext>
            </a:extLst>
          </p:cNvPr>
          <p:cNvSpPr/>
          <p:nvPr/>
        </p:nvSpPr>
        <p:spPr>
          <a:xfrm>
            <a:off x="117987" y="599768"/>
            <a:ext cx="11956026" cy="61844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0"/>
            <a:r>
              <a:rPr lang="he-IL" sz="4000" dirty="0"/>
              <a:t>היסטוריה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0F69992-F65E-DBCF-552E-E03450DD4D92}"/>
              </a:ext>
            </a:extLst>
          </p:cNvPr>
          <p:cNvSpPr/>
          <p:nvPr/>
        </p:nvSpPr>
        <p:spPr>
          <a:xfrm>
            <a:off x="9271819" y="1651819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סוכן היסטוריה</a:t>
            </a:r>
          </a:p>
        </p:txBody>
      </p:sp>
      <p:sp>
        <p:nvSpPr>
          <p:cNvPr id="8" name="מלבן 7">
            <a:hlinkClick r:id="rId2" action="ppaction://hlinksldjump"/>
            <a:extLst>
              <a:ext uri="{FF2B5EF4-FFF2-40B4-BE49-F238E27FC236}">
                <a16:creationId xmlns:a16="http://schemas.microsoft.com/office/drawing/2014/main" id="{EBD4CCE5-7D88-4089-D1A0-D58385D8624B}"/>
              </a:ext>
            </a:extLst>
          </p:cNvPr>
          <p:cNvSpPr/>
          <p:nvPr/>
        </p:nvSpPr>
        <p:spPr>
          <a:xfrm>
            <a:off x="9271819" y="2927554"/>
            <a:ext cx="2084439" cy="1002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/>
              <a:t>DB</a:t>
            </a:r>
            <a:endParaRPr lang="he-IL" sz="2400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3E7D81CB-39CB-C677-1AEF-A10821058F55}"/>
              </a:ext>
            </a:extLst>
          </p:cNvPr>
          <p:cNvSpPr/>
          <p:nvPr/>
        </p:nvSpPr>
        <p:spPr>
          <a:xfrm>
            <a:off x="904568" y="1651818"/>
            <a:ext cx="4404853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עדכון ההיסטוריה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51BE989D-74C4-132C-58E3-D60E0DFEE688}"/>
              </a:ext>
            </a:extLst>
          </p:cNvPr>
          <p:cNvSpPr/>
          <p:nvPr/>
        </p:nvSpPr>
        <p:spPr>
          <a:xfrm>
            <a:off x="904568" y="2753031"/>
            <a:ext cx="4404853" cy="10028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שאלת סוכן ההיסטוריה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6504AB19-6C35-CA3F-7252-6139FD365600}"/>
              </a:ext>
            </a:extLst>
          </p:cNvPr>
          <p:cNvSpPr/>
          <p:nvPr/>
        </p:nvSpPr>
        <p:spPr>
          <a:xfrm>
            <a:off x="11602065" y="88490"/>
            <a:ext cx="501446" cy="432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he-IL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מלבן 15">
            <a:hlinkClick r:id="rId3" action="ppaction://hlinksldjump"/>
            <a:extLst>
              <a:ext uri="{FF2B5EF4-FFF2-40B4-BE49-F238E27FC236}">
                <a16:creationId xmlns:a16="http://schemas.microsoft.com/office/drawing/2014/main" id="{90E797D7-790D-C3F9-B429-3497AC0B8A2E}"/>
              </a:ext>
            </a:extLst>
          </p:cNvPr>
          <p:cNvSpPr/>
          <p:nvPr/>
        </p:nvSpPr>
        <p:spPr>
          <a:xfrm>
            <a:off x="11552904" y="609599"/>
            <a:ext cx="462116" cy="4621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b="1" dirty="0"/>
              <a:t>X</a:t>
            </a:r>
            <a:endParaRPr lang="he-IL" sz="3600" b="1" dirty="0"/>
          </a:p>
        </p:txBody>
      </p:sp>
    </p:spTree>
    <p:extLst>
      <p:ext uri="{BB962C8B-B14F-4D97-AF65-F5344CB8AC3E}">
        <p14:creationId xmlns:p14="http://schemas.microsoft.com/office/powerpoint/2010/main" val="1901624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2E11-3CB5-265E-4080-6FA55F7C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DC10509C-5A84-9EAA-BBA2-E92406E7D174}"/>
              </a:ext>
            </a:extLst>
          </p:cNvPr>
          <p:cNvSpPr/>
          <p:nvPr/>
        </p:nvSpPr>
        <p:spPr>
          <a:xfrm>
            <a:off x="0" y="0"/>
            <a:ext cx="12191999" cy="6858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200" dirty="0"/>
              <a:t>BACKEND</a:t>
            </a:r>
            <a:endParaRPr lang="he-IL" sz="3200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6B54D6B9-3DC2-4122-7AFB-F554D85DD51F}"/>
              </a:ext>
            </a:extLst>
          </p:cNvPr>
          <p:cNvSpPr/>
          <p:nvPr/>
        </p:nvSpPr>
        <p:spPr>
          <a:xfrm>
            <a:off x="117987" y="599768"/>
            <a:ext cx="11956026" cy="61844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 rtl="0"/>
            <a:r>
              <a:rPr lang="he-IL" sz="4000" dirty="0"/>
              <a:t>היסטוריה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46276B41-E81C-67F5-1271-B3D21278E3DD}"/>
              </a:ext>
            </a:extLst>
          </p:cNvPr>
          <p:cNvSpPr/>
          <p:nvPr/>
        </p:nvSpPr>
        <p:spPr>
          <a:xfrm>
            <a:off x="216310" y="1199536"/>
            <a:ext cx="11759379" cy="55060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4000" b="1" dirty="0"/>
              <a:t>DB</a:t>
            </a:r>
            <a:endParaRPr lang="he-IL" sz="4000" b="1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81C7FAB-39B5-C454-B5AD-07540281A3C2}"/>
              </a:ext>
            </a:extLst>
          </p:cNvPr>
          <p:cNvSpPr/>
          <p:nvPr/>
        </p:nvSpPr>
        <p:spPr>
          <a:xfrm>
            <a:off x="8101781" y="1806676"/>
            <a:ext cx="3028335" cy="963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>
                <a:solidFill>
                  <a:schemeClr val="tx1"/>
                </a:solidFill>
              </a:rPr>
              <a:t>טבלת אירועים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7772B6D-E8D5-C23F-D98C-7339E2EB212F}"/>
              </a:ext>
            </a:extLst>
          </p:cNvPr>
          <p:cNvSpPr/>
          <p:nvPr/>
        </p:nvSpPr>
        <p:spPr>
          <a:xfrm>
            <a:off x="8101781" y="3020961"/>
            <a:ext cx="3028335" cy="963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>
                <a:solidFill>
                  <a:schemeClr val="tx1"/>
                </a:solidFill>
              </a:rPr>
              <a:t>טבלה יומית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9BF5F7A-F654-D4F5-F77E-283B68873E07}"/>
              </a:ext>
            </a:extLst>
          </p:cNvPr>
          <p:cNvSpPr/>
          <p:nvPr/>
        </p:nvSpPr>
        <p:spPr>
          <a:xfrm>
            <a:off x="8101781" y="4235246"/>
            <a:ext cx="3028335" cy="963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>
                <a:solidFill>
                  <a:schemeClr val="tx1"/>
                </a:solidFill>
              </a:rPr>
              <a:t>טבלה חודשית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0785328F-E9C0-323E-3B7D-558CDBE630E5}"/>
              </a:ext>
            </a:extLst>
          </p:cNvPr>
          <p:cNvSpPr/>
          <p:nvPr/>
        </p:nvSpPr>
        <p:spPr>
          <a:xfrm>
            <a:off x="8101781" y="5470423"/>
            <a:ext cx="3028335" cy="963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>
                <a:solidFill>
                  <a:schemeClr val="tx1"/>
                </a:solidFill>
              </a:rPr>
              <a:t>טבלה שנתית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1E9A6D92-1E32-DB26-0493-BBA5EEDA1596}"/>
              </a:ext>
            </a:extLst>
          </p:cNvPr>
          <p:cNvSpPr/>
          <p:nvPr/>
        </p:nvSpPr>
        <p:spPr>
          <a:xfrm>
            <a:off x="521111" y="2144661"/>
            <a:ext cx="6941574" cy="41135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800" dirty="0">
                <a:solidFill>
                  <a:schemeClr val="tx1"/>
                </a:solidFill>
              </a:rPr>
              <a:t>המטרה של הממסד הנתונים הוא כדי למנוע הסתמכות על הזיכרון של המודל והאיבוד האפשרי של מידע בדרך , לכן יהיה לנו טבלה שתרכז את כל האירועים שקראו (עם חותמת זמן והפעולות שבוצעו) ואנו נבצע סיכום לכל תקופת זמן (בעזרת הסוכן של </a:t>
            </a:r>
            <a:r>
              <a:rPr lang="he-IL" sz="2800" dirty="0" err="1">
                <a:solidFill>
                  <a:schemeClr val="tx1"/>
                </a:solidFill>
              </a:rPr>
              <a:t>ההסטוריה</a:t>
            </a:r>
            <a:r>
              <a:rPr lang="he-IL" sz="2800" dirty="0">
                <a:solidFill>
                  <a:schemeClr val="tx1"/>
                </a:solidFill>
              </a:rPr>
              <a:t>) ונשמור אותו עם חותמת זמן (וגם אינדוקס) כדי לחפש במהירות מה קרה ומתי וגם נוכל לספק את זה כסיכום של הזירה בתקופת זמן מסוימת.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940F5A4E-0DD8-88E4-CD2C-A665B783C81F}"/>
              </a:ext>
            </a:extLst>
          </p:cNvPr>
          <p:cNvSpPr/>
          <p:nvPr/>
        </p:nvSpPr>
        <p:spPr>
          <a:xfrm>
            <a:off x="11602065" y="88490"/>
            <a:ext cx="501446" cy="432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he-IL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1CBE5B21-4F26-B93D-3E22-ACD1C3F50D01}"/>
              </a:ext>
            </a:extLst>
          </p:cNvPr>
          <p:cNvSpPr/>
          <p:nvPr/>
        </p:nvSpPr>
        <p:spPr>
          <a:xfrm>
            <a:off x="11552904" y="609599"/>
            <a:ext cx="462116" cy="4621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endParaRPr lang="he-IL" sz="3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מלבן 16">
            <a:hlinkClick r:id="rId2" action="ppaction://hlinksldjump"/>
            <a:extLst>
              <a:ext uri="{FF2B5EF4-FFF2-40B4-BE49-F238E27FC236}">
                <a16:creationId xmlns:a16="http://schemas.microsoft.com/office/drawing/2014/main" id="{CDD8627B-00A6-BBB3-5D66-9127817D67B9}"/>
              </a:ext>
            </a:extLst>
          </p:cNvPr>
          <p:cNvSpPr/>
          <p:nvPr/>
        </p:nvSpPr>
        <p:spPr>
          <a:xfrm>
            <a:off x="11454578" y="1246236"/>
            <a:ext cx="471949" cy="4719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X</a:t>
            </a:r>
            <a:endParaRPr lang="he-IL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031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6801-BE42-DD19-151B-B55BA322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29FC4D3D-C78C-3A9D-91A6-1CE9CB07BCD6}"/>
              </a:ext>
            </a:extLst>
          </p:cNvPr>
          <p:cNvSpPr/>
          <p:nvPr/>
        </p:nvSpPr>
        <p:spPr>
          <a:xfrm>
            <a:off x="0" y="1"/>
            <a:ext cx="12192000" cy="6902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200" dirty="0"/>
              <a:t>FRONTEND</a:t>
            </a:r>
            <a:endParaRPr lang="he-IL" sz="3200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EDBBAC8-99EC-A10D-E884-60429622E71F}"/>
              </a:ext>
            </a:extLst>
          </p:cNvPr>
          <p:cNvSpPr/>
          <p:nvPr/>
        </p:nvSpPr>
        <p:spPr>
          <a:xfrm>
            <a:off x="3156156" y="1092609"/>
            <a:ext cx="6941574" cy="41135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r>
              <a:rPr lang="he-IL" sz="2800" dirty="0">
                <a:solidFill>
                  <a:schemeClr val="tx1"/>
                </a:solidFill>
              </a:rPr>
              <a:t>הלקוח שלנו יהיה </a:t>
            </a:r>
            <a:r>
              <a:rPr lang="he-IL" sz="2800" dirty="0" err="1">
                <a:solidFill>
                  <a:schemeClr val="tx1"/>
                </a:solidFill>
              </a:rPr>
              <a:t>בוט</a:t>
            </a:r>
            <a:r>
              <a:rPr lang="he-IL" sz="2800" dirty="0">
                <a:solidFill>
                  <a:schemeClr val="tx1"/>
                </a:solidFill>
              </a:rPr>
              <a:t> </a:t>
            </a:r>
            <a:r>
              <a:rPr lang="he-IL" sz="2800" dirty="0" err="1">
                <a:solidFill>
                  <a:schemeClr val="tx1"/>
                </a:solidFill>
              </a:rPr>
              <a:t>בטלגרם</a:t>
            </a:r>
            <a:r>
              <a:rPr lang="he-IL" sz="28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6" name="תמונה 5" descr="12 Best Telegram Bots to Boost Your Productivity">
            <a:extLst>
              <a:ext uri="{FF2B5EF4-FFF2-40B4-BE49-F238E27FC236}">
                <a16:creationId xmlns:a16="http://schemas.microsoft.com/office/drawing/2014/main" id="{D5A31707-A83A-513F-EDB8-EC6768AA0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427" y="1741413"/>
            <a:ext cx="5840360" cy="3287196"/>
          </a:xfrm>
          <a:prstGeom prst="rect">
            <a:avLst/>
          </a:prstGeom>
        </p:spPr>
      </p:pic>
      <p:sp>
        <p:nvSpPr>
          <p:cNvPr id="9" name="מלבן 8">
            <a:hlinkClick r:id="rId3" action="ppaction://hlinksldjump"/>
            <a:extLst>
              <a:ext uri="{FF2B5EF4-FFF2-40B4-BE49-F238E27FC236}">
                <a16:creationId xmlns:a16="http://schemas.microsoft.com/office/drawing/2014/main" id="{5D22BD51-81D3-EFD6-1DD1-EE675851ABA6}"/>
              </a:ext>
            </a:extLst>
          </p:cNvPr>
          <p:cNvSpPr/>
          <p:nvPr/>
        </p:nvSpPr>
        <p:spPr>
          <a:xfrm>
            <a:off x="11602065" y="88490"/>
            <a:ext cx="501446" cy="4326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X</a:t>
            </a:r>
            <a:endParaRPr lang="he-IL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621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275</Words>
  <Application>Microsoft Office PowerPoint</Application>
  <PresentationFormat>מסך רחב</PresentationFormat>
  <Paragraphs>71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Shlomi Ganon</dc:creator>
  <cp:lastModifiedBy>Shlomi Ganon</cp:lastModifiedBy>
  <cp:revision>3</cp:revision>
  <dcterms:created xsi:type="dcterms:W3CDTF">2026-08-22T17:16:46Z</dcterms:created>
  <dcterms:modified xsi:type="dcterms:W3CDTF">2026-08-22T18:28:14Z</dcterms:modified>
</cp:coreProperties>
</file>